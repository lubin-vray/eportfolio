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dec Pro Bold" charset="1" panose="00000600000000000000"/>
      <p:regular r:id="rId21"/>
    </p:embeddedFont>
    <p:embeddedFont>
      <p:font typeface="Codec Pro" charset="1" panose="00000500000000000000"/>
      <p:regular r:id="rId22"/>
    </p:embeddedFont>
    <p:embeddedFont>
      <p:font typeface="Open Sans" charset="1" panose="020B0606030504020204"/>
      <p:regular r:id="rId23"/>
    </p:embeddedFont>
    <p:embeddedFont>
      <p:font typeface="Open Sans Italic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76095">
            <a:off x="14080327" y="4246314"/>
            <a:ext cx="5332697" cy="5011986"/>
            <a:chOff x="0" y="0"/>
            <a:chExt cx="1404496" cy="1320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496" cy="1320029"/>
            </a:xfrm>
            <a:custGeom>
              <a:avLst/>
              <a:gdLst/>
              <a:ahLst/>
              <a:cxnLst/>
              <a:rect r="r" b="b" t="t" l="l"/>
              <a:pathLst>
                <a:path h="1320029" w="1404496">
                  <a:moveTo>
                    <a:pt x="37746" y="0"/>
                  </a:moveTo>
                  <a:lnTo>
                    <a:pt x="1366750" y="0"/>
                  </a:lnTo>
                  <a:cubicBezTo>
                    <a:pt x="1387597" y="0"/>
                    <a:pt x="1404496" y="16900"/>
                    <a:pt x="1404496" y="37746"/>
                  </a:cubicBezTo>
                  <a:lnTo>
                    <a:pt x="1404496" y="1282283"/>
                  </a:lnTo>
                  <a:cubicBezTo>
                    <a:pt x="1404496" y="1303130"/>
                    <a:pt x="1387597" y="1320029"/>
                    <a:pt x="1366750" y="1320029"/>
                  </a:cubicBezTo>
                  <a:lnTo>
                    <a:pt x="37746" y="1320029"/>
                  </a:lnTo>
                  <a:cubicBezTo>
                    <a:pt x="16900" y="1320029"/>
                    <a:pt x="0" y="1303130"/>
                    <a:pt x="0" y="1282283"/>
                  </a:cubicBezTo>
                  <a:lnTo>
                    <a:pt x="0" y="37746"/>
                  </a:lnTo>
                  <a:cubicBezTo>
                    <a:pt x="0" y="16900"/>
                    <a:pt x="16900" y="0"/>
                    <a:pt x="37746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04496" cy="136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85766">
            <a:off x="11457142" y="2520315"/>
            <a:ext cx="5246370" cy="52463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0989" y="0"/>
                  </a:moveTo>
                  <a:lnTo>
                    <a:pt x="781811" y="0"/>
                  </a:lnTo>
                  <a:cubicBezTo>
                    <a:pt x="798926" y="0"/>
                    <a:pt x="812800" y="13874"/>
                    <a:pt x="812800" y="30989"/>
                  </a:cubicBezTo>
                  <a:lnTo>
                    <a:pt x="812800" y="781811"/>
                  </a:lnTo>
                  <a:cubicBezTo>
                    <a:pt x="812800" y="798926"/>
                    <a:pt x="798926" y="812800"/>
                    <a:pt x="781811" y="812800"/>
                  </a:cubicBezTo>
                  <a:lnTo>
                    <a:pt x="30989" y="812800"/>
                  </a:lnTo>
                  <a:cubicBezTo>
                    <a:pt x="13874" y="812800"/>
                    <a:pt x="0" y="798926"/>
                    <a:pt x="0" y="781811"/>
                  </a:cubicBezTo>
                  <a:lnTo>
                    <a:pt x="0" y="30989"/>
                  </a:lnTo>
                  <a:cubicBezTo>
                    <a:pt x="0" y="13874"/>
                    <a:pt x="13874" y="0"/>
                    <a:pt x="30989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9761" y="705768"/>
            <a:ext cx="16648478" cy="645864"/>
            <a:chOff x="0" y="0"/>
            <a:chExt cx="10475806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75806" cy="406400"/>
            </a:xfrm>
            <a:custGeom>
              <a:avLst/>
              <a:gdLst/>
              <a:ahLst/>
              <a:cxnLst/>
              <a:rect r="r" b="b" t="t" l="l"/>
              <a:pathLst>
                <a:path h="406400" w="10475806">
                  <a:moveTo>
                    <a:pt x="10272606" y="0"/>
                  </a:moveTo>
                  <a:cubicBezTo>
                    <a:pt x="10384830" y="0"/>
                    <a:pt x="10475806" y="90976"/>
                    <a:pt x="10475806" y="203200"/>
                  </a:cubicBezTo>
                  <a:cubicBezTo>
                    <a:pt x="10475806" y="315424"/>
                    <a:pt x="10384830" y="406400"/>
                    <a:pt x="102726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47580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8612436"/>
            <a:ext cx="3136633" cy="645864"/>
            <a:chOff x="0" y="0"/>
            <a:chExt cx="197368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3680" cy="406400"/>
            </a:xfrm>
            <a:custGeom>
              <a:avLst/>
              <a:gdLst/>
              <a:ahLst/>
              <a:cxnLst/>
              <a:rect r="r" b="b" t="t" l="l"/>
              <a:pathLst>
                <a:path h="406400" w="1973680">
                  <a:moveTo>
                    <a:pt x="1770480" y="0"/>
                  </a:moveTo>
                  <a:cubicBezTo>
                    <a:pt x="1882704" y="0"/>
                    <a:pt x="1973680" y="90976"/>
                    <a:pt x="1973680" y="203200"/>
                  </a:cubicBezTo>
                  <a:cubicBezTo>
                    <a:pt x="1973680" y="315424"/>
                    <a:pt x="1882704" y="406400"/>
                    <a:pt x="17704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7368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5344" y="8739442"/>
            <a:ext cx="391852" cy="39185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29206" y="8827632"/>
            <a:ext cx="144126" cy="215473"/>
          </a:xfrm>
          <a:custGeom>
            <a:avLst/>
            <a:gdLst/>
            <a:ahLst/>
            <a:cxnLst/>
            <a:rect r="r" b="b" t="t" l="l"/>
            <a:pathLst>
              <a:path h="215473" w="144126">
                <a:moveTo>
                  <a:pt x="0" y="0"/>
                </a:moveTo>
                <a:lnTo>
                  <a:pt x="144126" y="0"/>
                </a:lnTo>
                <a:lnTo>
                  <a:pt x="144126" y="215473"/>
                </a:lnTo>
                <a:lnTo>
                  <a:pt x="0" y="2154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3816641"/>
            <a:ext cx="9036879" cy="289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09"/>
              </a:lnSpc>
            </a:pPr>
            <a:r>
              <a:rPr lang="en-US" sz="9825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Présentation SAE 21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4394" y="812833"/>
            <a:ext cx="10094897" cy="87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BUT Réseaux &amp; Télécommunications · 2025-2026</a:t>
            </a:r>
          </a:p>
          <a:p>
            <a:pPr algn="l">
              <a:lnSpc>
                <a:spcPts val="323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773141" y="8720392"/>
            <a:ext cx="2392192" cy="47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VRAY Lubin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084" y="1876054"/>
            <a:ext cx="16777831" cy="7382246"/>
          </a:xfrm>
          <a:custGeom>
            <a:avLst/>
            <a:gdLst/>
            <a:ahLst/>
            <a:cxnLst/>
            <a:rect r="r" b="b" t="t" l="l"/>
            <a:pathLst>
              <a:path h="7382246" w="16777831">
                <a:moveTo>
                  <a:pt x="0" y="0"/>
                </a:moveTo>
                <a:lnTo>
                  <a:pt x="16777832" y="0"/>
                </a:lnTo>
                <a:lnTo>
                  <a:pt x="16777832" y="7382246"/>
                </a:lnTo>
                <a:lnTo>
                  <a:pt x="0" y="738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6849"/>
            <a:ext cx="5814311" cy="73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Sommaire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2378" y="4037661"/>
            <a:ext cx="17303244" cy="5039570"/>
          </a:xfrm>
          <a:custGeom>
            <a:avLst/>
            <a:gdLst/>
            <a:ahLst/>
            <a:cxnLst/>
            <a:rect r="r" b="b" t="t" l="l"/>
            <a:pathLst>
              <a:path h="5039570" w="17303244">
                <a:moveTo>
                  <a:pt x="0" y="0"/>
                </a:moveTo>
                <a:lnTo>
                  <a:pt x="17303244" y="0"/>
                </a:lnTo>
                <a:lnTo>
                  <a:pt x="17303244" y="5039570"/>
                </a:lnTo>
                <a:lnTo>
                  <a:pt x="0" y="5039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429" y="2059820"/>
            <a:ext cx="16614871" cy="137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Concevoir, simuler et documenter l'infrastructure réseau d'un établissement universitaire de type UJM, reliant 4 sites distincts (campus de Carnot, Métare, Roanne, Tréfilerie).</a:t>
            </a:r>
          </a:p>
          <a:p>
            <a:pPr algn="l" marL="0" indent="0" lvl="0">
              <a:lnSpc>
                <a:spcPts val="359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76849"/>
            <a:ext cx="10052703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 · Introduction</a:t>
            </a:r>
          </a:p>
          <a:p>
            <a:pPr algn="l">
              <a:lnSpc>
                <a:spcPts val="512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3953" y="0"/>
            <a:ext cx="9875520" cy="10287000"/>
          </a:xfrm>
          <a:custGeom>
            <a:avLst/>
            <a:gdLst/>
            <a:ahLst/>
            <a:cxnLst/>
            <a:rect r="r" b="b" t="t" l="l"/>
            <a:pathLst>
              <a:path h="10287000" w="9875520">
                <a:moveTo>
                  <a:pt x="0" y="0"/>
                </a:moveTo>
                <a:lnTo>
                  <a:pt x="9875520" y="0"/>
                </a:lnTo>
                <a:lnTo>
                  <a:pt x="9875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2016" y="1891969"/>
            <a:ext cx="16537284" cy="6883645"/>
          </a:xfrm>
          <a:custGeom>
            <a:avLst/>
            <a:gdLst/>
            <a:ahLst/>
            <a:cxnLst/>
            <a:rect r="r" b="b" t="t" l="l"/>
            <a:pathLst>
              <a:path h="6883645" w="16537284">
                <a:moveTo>
                  <a:pt x="0" y="0"/>
                </a:moveTo>
                <a:lnTo>
                  <a:pt x="16537284" y="0"/>
                </a:lnTo>
                <a:lnTo>
                  <a:pt x="16537284" y="6883644"/>
                </a:lnTo>
                <a:lnTo>
                  <a:pt x="0" y="6883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6849"/>
            <a:ext cx="10052703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 · VLANs &amp; Architecture réseau</a:t>
            </a:r>
          </a:p>
          <a:p>
            <a:pPr algn="l">
              <a:lnSpc>
                <a:spcPts val="512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673738" y="9239250"/>
            <a:ext cx="585562" cy="47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2016" y="9056526"/>
            <a:ext cx="14972327" cy="80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Topologie en triangle (STP) entre les 3 switches de chaque bâtiment · Liens trunk portant tous les VLANs · VLAN natif :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8929" y="2740917"/>
            <a:ext cx="16367591" cy="5228468"/>
          </a:xfrm>
          <a:custGeom>
            <a:avLst/>
            <a:gdLst/>
            <a:ahLst/>
            <a:cxnLst/>
            <a:rect r="r" b="b" t="t" l="l"/>
            <a:pathLst>
              <a:path h="5228468" w="16367591">
                <a:moveTo>
                  <a:pt x="0" y="0"/>
                </a:moveTo>
                <a:lnTo>
                  <a:pt x="16367590" y="0"/>
                </a:lnTo>
                <a:lnTo>
                  <a:pt x="16367590" y="5228468"/>
                </a:lnTo>
                <a:lnTo>
                  <a:pt x="0" y="5228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08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673738" y="9239250"/>
            <a:ext cx="585562" cy="47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8929" y="1809368"/>
            <a:ext cx="10574814" cy="39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Plage de base : 172.16.0.0/16 — Allocation du plus grand au plus petit réseau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929" y="652121"/>
            <a:ext cx="10052703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 · Plan d'adressage VLSM</a:t>
            </a:r>
          </a:p>
          <a:p>
            <a:pPr algn="l">
              <a:lnSpc>
                <a:spcPts val="512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094" y="1870606"/>
            <a:ext cx="18219710" cy="6422448"/>
          </a:xfrm>
          <a:custGeom>
            <a:avLst/>
            <a:gdLst/>
            <a:ahLst/>
            <a:cxnLst/>
            <a:rect r="r" b="b" t="t" l="l"/>
            <a:pathLst>
              <a:path h="6422448" w="18219710">
                <a:moveTo>
                  <a:pt x="0" y="0"/>
                </a:moveTo>
                <a:lnTo>
                  <a:pt x="18219710" y="0"/>
                </a:lnTo>
                <a:lnTo>
                  <a:pt x="18219710" y="6422448"/>
                </a:lnTo>
                <a:lnTo>
                  <a:pt x="0" y="6422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6849"/>
            <a:ext cx="15008540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 · Redécoupage VLSM — Sous-réseaux par VLAN</a:t>
            </a:r>
          </a:p>
          <a:p>
            <a:pPr algn="l">
              <a:lnSpc>
                <a:spcPts val="512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98929" y="8450576"/>
            <a:ext cx="16230600" cy="80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Liaisons inter-sites : réseau 192.168.1.0 découpé en /30 (2 hôtes/lien) · 11 liens point à point entre routeurs Gateway, FAI et WAN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24359">
            <a:off x="10428282" y="5455846"/>
            <a:ext cx="5332697" cy="5011986"/>
            <a:chOff x="0" y="0"/>
            <a:chExt cx="1404496" cy="1320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496" cy="1320029"/>
            </a:xfrm>
            <a:custGeom>
              <a:avLst/>
              <a:gdLst/>
              <a:ahLst/>
              <a:cxnLst/>
              <a:rect r="r" b="b" t="t" l="l"/>
              <a:pathLst>
                <a:path h="1320029" w="1404496">
                  <a:moveTo>
                    <a:pt x="37746" y="0"/>
                  </a:moveTo>
                  <a:lnTo>
                    <a:pt x="1366750" y="0"/>
                  </a:lnTo>
                  <a:cubicBezTo>
                    <a:pt x="1387597" y="0"/>
                    <a:pt x="1404496" y="16900"/>
                    <a:pt x="1404496" y="37746"/>
                  </a:cubicBezTo>
                  <a:lnTo>
                    <a:pt x="1404496" y="1282283"/>
                  </a:lnTo>
                  <a:cubicBezTo>
                    <a:pt x="1404496" y="1303130"/>
                    <a:pt x="1387597" y="1320029"/>
                    <a:pt x="1366750" y="1320029"/>
                  </a:cubicBezTo>
                  <a:lnTo>
                    <a:pt x="37746" y="1320029"/>
                  </a:lnTo>
                  <a:cubicBezTo>
                    <a:pt x="16900" y="1320029"/>
                    <a:pt x="0" y="1303130"/>
                    <a:pt x="0" y="1282283"/>
                  </a:cubicBezTo>
                  <a:lnTo>
                    <a:pt x="0" y="37746"/>
                  </a:lnTo>
                  <a:cubicBezTo>
                    <a:pt x="0" y="16900"/>
                    <a:pt x="16900" y="0"/>
                    <a:pt x="37746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04496" cy="136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476095">
            <a:off x="4786840" y="2388288"/>
            <a:ext cx="5332697" cy="5011986"/>
            <a:chOff x="0" y="0"/>
            <a:chExt cx="1404496" cy="1320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4496" cy="1320029"/>
            </a:xfrm>
            <a:custGeom>
              <a:avLst/>
              <a:gdLst/>
              <a:ahLst/>
              <a:cxnLst/>
              <a:rect r="r" b="b" t="t" l="l"/>
              <a:pathLst>
                <a:path h="1320029" w="1404496">
                  <a:moveTo>
                    <a:pt x="37746" y="0"/>
                  </a:moveTo>
                  <a:lnTo>
                    <a:pt x="1366750" y="0"/>
                  </a:lnTo>
                  <a:cubicBezTo>
                    <a:pt x="1387597" y="0"/>
                    <a:pt x="1404496" y="16900"/>
                    <a:pt x="1404496" y="37746"/>
                  </a:cubicBezTo>
                  <a:lnTo>
                    <a:pt x="1404496" y="1282283"/>
                  </a:lnTo>
                  <a:cubicBezTo>
                    <a:pt x="1404496" y="1303130"/>
                    <a:pt x="1387597" y="1320029"/>
                    <a:pt x="1366750" y="1320029"/>
                  </a:cubicBezTo>
                  <a:lnTo>
                    <a:pt x="37746" y="1320029"/>
                  </a:lnTo>
                  <a:cubicBezTo>
                    <a:pt x="16900" y="1320029"/>
                    <a:pt x="0" y="1303130"/>
                    <a:pt x="0" y="1282283"/>
                  </a:cubicBezTo>
                  <a:lnTo>
                    <a:pt x="0" y="37746"/>
                  </a:lnTo>
                  <a:cubicBezTo>
                    <a:pt x="0" y="16900"/>
                    <a:pt x="16900" y="0"/>
                    <a:pt x="37746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04496" cy="136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76849"/>
            <a:ext cx="14806671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 · Configuration Switches &amp; Routage inter-VLAN</a:t>
            </a:r>
          </a:p>
          <a:p>
            <a:pPr algn="l">
              <a:lnSpc>
                <a:spcPts val="5124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064601"/>
            <a:ext cx="6424489" cy="6419599"/>
            <a:chOff x="0" y="0"/>
            <a:chExt cx="1692046" cy="16907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2046" cy="1690759"/>
            </a:xfrm>
            <a:custGeom>
              <a:avLst/>
              <a:gdLst/>
              <a:ahLst/>
              <a:cxnLst/>
              <a:rect r="r" b="b" t="t" l="l"/>
              <a:pathLst>
                <a:path h="1690759" w="1692046">
                  <a:moveTo>
                    <a:pt x="31332" y="0"/>
                  </a:moveTo>
                  <a:lnTo>
                    <a:pt x="1660715" y="0"/>
                  </a:lnTo>
                  <a:cubicBezTo>
                    <a:pt x="1678019" y="0"/>
                    <a:pt x="1692046" y="14028"/>
                    <a:pt x="1692046" y="31332"/>
                  </a:cubicBezTo>
                  <a:lnTo>
                    <a:pt x="1692046" y="1659427"/>
                  </a:lnTo>
                  <a:cubicBezTo>
                    <a:pt x="1692046" y="1676731"/>
                    <a:pt x="1678019" y="1690759"/>
                    <a:pt x="1660715" y="1690759"/>
                  </a:cubicBezTo>
                  <a:lnTo>
                    <a:pt x="31332" y="1690759"/>
                  </a:lnTo>
                  <a:cubicBezTo>
                    <a:pt x="14028" y="1690759"/>
                    <a:pt x="0" y="1676731"/>
                    <a:pt x="0" y="1659427"/>
                  </a:cubicBezTo>
                  <a:lnTo>
                    <a:pt x="0" y="31332"/>
                  </a:lnTo>
                  <a:cubicBezTo>
                    <a:pt x="0" y="14028"/>
                    <a:pt x="14028" y="0"/>
                    <a:pt x="31332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92046" cy="173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6446" y="3064601"/>
            <a:ext cx="7067292" cy="6419599"/>
            <a:chOff x="0" y="0"/>
            <a:chExt cx="1861344" cy="16907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1344" cy="1690759"/>
            </a:xfrm>
            <a:custGeom>
              <a:avLst/>
              <a:gdLst/>
              <a:ahLst/>
              <a:cxnLst/>
              <a:rect r="r" b="b" t="t" l="l"/>
              <a:pathLst>
                <a:path h="1690759" w="1861344">
                  <a:moveTo>
                    <a:pt x="28482" y="0"/>
                  </a:moveTo>
                  <a:lnTo>
                    <a:pt x="1832862" y="0"/>
                  </a:lnTo>
                  <a:cubicBezTo>
                    <a:pt x="1840416" y="0"/>
                    <a:pt x="1847661" y="3001"/>
                    <a:pt x="1853002" y="8342"/>
                  </a:cubicBezTo>
                  <a:cubicBezTo>
                    <a:pt x="1858344" y="13684"/>
                    <a:pt x="1861344" y="20928"/>
                    <a:pt x="1861344" y="28482"/>
                  </a:cubicBezTo>
                  <a:lnTo>
                    <a:pt x="1861344" y="1662277"/>
                  </a:lnTo>
                  <a:cubicBezTo>
                    <a:pt x="1861344" y="1669831"/>
                    <a:pt x="1858344" y="1677075"/>
                    <a:pt x="1853002" y="1682416"/>
                  </a:cubicBezTo>
                  <a:cubicBezTo>
                    <a:pt x="1847661" y="1687758"/>
                    <a:pt x="1840416" y="1690759"/>
                    <a:pt x="1832862" y="1690759"/>
                  </a:cubicBezTo>
                  <a:lnTo>
                    <a:pt x="28482" y="1690759"/>
                  </a:lnTo>
                  <a:cubicBezTo>
                    <a:pt x="12752" y="1690759"/>
                    <a:pt x="0" y="1678007"/>
                    <a:pt x="0" y="1662277"/>
                  </a:cubicBezTo>
                  <a:lnTo>
                    <a:pt x="0" y="28482"/>
                  </a:lnTo>
                  <a:cubicBezTo>
                    <a:pt x="0" y="12752"/>
                    <a:pt x="12752" y="0"/>
                    <a:pt x="28482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61344" cy="173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9652" y="3406522"/>
            <a:ext cx="442407" cy="4424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29495" y="3506089"/>
            <a:ext cx="162721" cy="243273"/>
          </a:xfrm>
          <a:custGeom>
            <a:avLst/>
            <a:gdLst/>
            <a:ahLst/>
            <a:cxnLst/>
            <a:rect r="r" b="b" t="t" l="l"/>
            <a:pathLst>
              <a:path h="243273" w="162721">
                <a:moveTo>
                  <a:pt x="0" y="0"/>
                </a:moveTo>
                <a:lnTo>
                  <a:pt x="162721" y="0"/>
                </a:lnTo>
                <a:lnTo>
                  <a:pt x="162721" y="243273"/>
                </a:lnTo>
                <a:lnTo>
                  <a:pt x="0" y="2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894189" y="3284885"/>
            <a:ext cx="442407" cy="44240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034032" y="3384453"/>
            <a:ext cx="162721" cy="243273"/>
          </a:xfrm>
          <a:custGeom>
            <a:avLst/>
            <a:gdLst/>
            <a:ahLst/>
            <a:cxnLst/>
            <a:rect r="r" b="b" t="t" l="l"/>
            <a:pathLst>
              <a:path h="243273" w="162721">
                <a:moveTo>
                  <a:pt x="0" y="0"/>
                </a:moveTo>
                <a:lnTo>
                  <a:pt x="162721" y="0"/>
                </a:lnTo>
                <a:lnTo>
                  <a:pt x="162721" y="243272"/>
                </a:lnTo>
                <a:lnTo>
                  <a:pt x="0" y="243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673738" y="9239250"/>
            <a:ext cx="585562" cy="47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74172" y="3367193"/>
            <a:ext cx="3747623" cy="146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34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Configuration des Switches</a:t>
            </a:r>
          </a:p>
          <a:p>
            <a:pPr algn="l">
              <a:lnSpc>
                <a:spcPts val="3648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820956" y="3256310"/>
            <a:ext cx="5014415" cy="146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34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Routage inter-VLAN « Router on a Stick »</a:t>
            </a:r>
          </a:p>
          <a:p>
            <a:pPr algn="l">
              <a:lnSpc>
                <a:spcPts val="364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10856" y="4772632"/>
            <a:ext cx="5167919" cy="442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Création des VLANs (10, 20, 30, 40, 100) avec noms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Ports Access → VLAN untagged par poste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Ports Trunk → VLANs 10,20,30,40,100 tagués · VLAN natif 30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Adresse IP de management dans VLAN 10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STP activé — topologie triangle entre bâtiments</a:t>
            </a:r>
          </a:p>
          <a:p>
            <a:pPr algn="l">
              <a:lnSpc>
                <a:spcPts val="254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439956" y="4661749"/>
            <a:ext cx="5648784" cy="442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1 seul lien physique routeur ↔ switch (trunk)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1</a:t>
            </a: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sous-interface logique par VLAN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Chaque s</a:t>
            </a: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ous-interface = passerelle du VLAN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encapsulation dot1Q &lt;id_vlan&gt; [native]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ip helper-address → relais DHCP par sous-interface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ip access-group ACL_VLANxx in → filtrage entrant</a:t>
            </a:r>
          </a:p>
          <a:p>
            <a:pPr algn="l">
              <a:lnSpc>
                <a:spcPts val="254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560" y="3301411"/>
            <a:ext cx="16680881" cy="5713202"/>
          </a:xfrm>
          <a:custGeom>
            <a:avLst/>
            <a:gdLst/>
            <a:ahLst/>
            <a:cxnLst/>
            <a:rect r="r" b="b" t="t" l="l"/>
            <a:pathLst>
              <a:path h="5713202" w="16680881">
                <a:moveTo>
                  <a:pt x="0" y="0"/>
                </a:moveTo>
                <a:lnTo>
                  <a:pt x="16680880" y="0"/>
                </a:lnTo>
                <a:lnTo>
                  <a:pt x="16680880" y="5713202"/>
                </a:lnTo>
                <a:lnTo>
                  <a:pt x="0" y="5713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6849"/>
            <a:ext cx="11061501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 · Routage inter-sites — RIPv2</a:t>
            </a:r>
          </a:p>
          <a:p>
            <a:pPr algn="l">
              <a:lnSpc>
                <a:spcPts val="512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48395"/>
            <a:ext cx="16242946" cy="87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  <a:spcBef>
                <a:spcPct val="0"/>
              </a:spcBef>
            </a:pPr>
            <a:r>
              <a:rPr lang="en-US" sz="29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RIPv2 choisi car : propagation automatique des tables de routage · Support du VLSM (masques variables) · Simple à configurer sur Packet Tracer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73738" y="811134"/>
            <a:ext cx="585562" cy="482914"/>
          </a:xfrm>
          <a:custGeom>
            <a:avLst/>
            <a:gdLst/>
            <a:ahLst/>
            <a:cxnLst/>
            <a:rect r="r" b="b" t="t" l="l"/>
            <a:pathLst>
              <a:path h="482914" w="585562">
                <a:moveTo>
                  <a:pt x="0" y="0"/>
                </a:moveTo>
                <a:lnTo>
                  <a:pt x="585562" y="0"/>
                </a:lnTo>
                <a:lnTo>
                  <a:pt x="585562" y="482913"/>
                </a:lnTo>
                <a:lnTo>
                  <a:pt x="0" y="482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8676" y="2268279"/>
            <a:ext cx="7409479" cy="7409479"/>
          </a:xfrm>
          <a:custGeom>
            <a:avLst/>
            <a:gdLst/>
            <a:ahLst/>
            <a:cxnLst/>
            <a:rect r="r" b="b" t="t" l="l"/>
            <a:pathLst>
              <a:path h="7409479" w="7409479">
                <a:moveTo>
                  <a:pt x="0" y="0"/>
                </a:moveTo>
                <a:lnTo>
                  <a:pt x="7409480" y="0"/>
                </a:lnTo>
                <a:lnTo>
                  <a:pt x="7409480" y="7409480"/>
                </a:lnTo>
                <a:lnTo>
                  <a:pt x="0" y="7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268279"/>
            <a:ext cx="7409479" cy="7409479"/>
          </a:xfrm>
          <a:custGeom>
            <a:avLst/>
            <a:gdLst/>
            <a:ahLst/>
            <a:cxnLst/>
            <a:rect r="r" b="b" t="t" l="l"/>
            <a:pathLst>
              <a:path h="7409479" w="7409479">
                <a:moveTo>
                  <a:pt x="0" y="0"/>
                </a:moveTo>
                <a:lnTo>
                  <a:pt x="7409479" y="0"/>
                </a:lnTo>
                <a:lnTo>
                  <a:pt x="7409479" y="7409480"/>
                </a:lnTo>
                <a:lnTo>
                  <a:pt x="0" y="7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76849"/>
            <a:ext cx="12334716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05 · NAT / PAT — Translation d'adresses</a:t>
            </a:r>
          </a:p>
          <a:p>
            <a:pPr algn="l">
              <a:lnSpc>
                <a:spcPts val="512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405" y="2179309"/>
            <a:ext cx="17161189" cy="7078991"/>
          </a:xfrm>
          <a:custGeom>
            <a:avLst/>
            <a:gdLst/>
            <a:ahLst/>
            <a:cxnLst/>
            <a:rect r="r" b="b" t="t" l="l"/>
            <a:pathLst>
              <a:path h="7078991" w="17161189">
                <a:moveTo>
                  <a:pt x="0" y="0"/>
                </a:moveTo>
                <a:lnTo>
                  <a:pt x="17161190" y="0"/>
                </a:lnTo>
                <a:lnTo>
                  <a:pt x="17161190" y="7078991"/>
                </a:lnTo>
                <a:lnTo>
                  <a:pt x="0" y="707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6849"/>
            <a:ext cx="12334716" cy="202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06 · ACL — Politique de sécurité</a:t>
            </a:r>
          </a:p>
          <a:p>
            <a:pPr algn="l">
              <a:lnSpc>
                <a:spcPts val="5124"/>
              </a:lnSpc>
            </a:pPr>
          </a:p>
          <a:p>
            <a:pPr algn="l">
              <a:lnSpc>
                <a:spcPts val="512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3251" y="1647247"/>
            <a:ext cx="17446684" cy="7981858"/>
          </a:xfrm>
          <a:custGeom>
            <a:avLst/>
            <a:gdLst/>
            <a:ahLst/>
            <a:cxnLst/>
            <a:rect r="r" b="b" t="t" l="l"/>
            <a:pathLst>
              <a:path h="7981858" w="17446684">
                <a:moveTo>
                  <a:pt x="0" y="0"/>
                </a:moveTo>
                <a:lnTo>
                  <a:pt x="17446684" y="0"/>
                </a:lnTo>
                <a:lnTo>
                  <a:pt x="17446684" y="7981857"/>
                </a:lnTo>
                <a:lnTo>
                  <a:pt x="0" y="7981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6849"/>
            <a:ext cx="12334716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07 · Résultats &amp; Bilan des tests</a:t>
            </a:r>
          </a:p>
          <a:p>
            <a:pPr algn="l">
              <a:lnSpc>
                <a:spcPts val="512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353" y="2244799"/>
            <a:ext cx="13407510" cy="1611049"/>
          </a:xfrm>
          <a:custGeom>
            <a:avLst/>
            <a:gdLst/>
            <a:ahLst/>
            <a:cxnLst/>
            <a:rect r="r" b="b" t="t" l="l"/>
            <a:pathLst>
              <a:path h="1611049" w="13407510">
                <a:moveTo>
                  <a:pt x="0" y="0"/>
                </a:moveTo>
                <a:lnTo>
                  <a:pt x="13407509" y="0"/>
                </a:lnTo>
                <a:lnTo>
                  <a:pt x="13407509" y="1611049"/>
                </a:lnTo>
                <a:lnTo>
                  <a:pt x="0" y="161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88343" y="4596277"/>
            <a:ext cx="10415429" cy="4979640"/>
          </a:xfrm>
          <a:custGeom>
            <a:avLst/>
            <a:gdLst/>
            <a:ahLst/>
            <a:cxnLst/>
            <a:rect r="r" b="b" t="t" l="l"/>
            <a:pathLst>
              <a:path h="4979640" w="10415429">
                <a:moveTo>
                  <a:pt x="0" y="0"/>
                </a:moveTo>
                <a:lnTo>
                  <a:pt x="10415430" y="0"/>
                </a:lnTo>
                <a:lnTo>
                  <a:pt x="10415430" y="4979639"/>
                </a:lnTo>
                <a:lnTo>
                  <a:pt x="0" y="4979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76849"/>
            <a:ext cx="12334716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07 · Résultats &amp; Bilan des tests</a:t>
            </a:r>
          </a:p>
          <a:p>
            <a:pPr algn="l">
              <a:lnSpc>
                <a:spcPts val="5124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24359">
            <a:off x="10563466" y="4840958"/>
            <a:ext cx="5332697" cy="5011986"/>
            <a:chOff x="0" y="0"/>
            <a:chExt cx="1404496" cy="1320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496" cy="1320029"/>
            </a:xfrm>
            <a:custGeom>
              <a:avLst/>
              <a:gdLst/>
              <a:ahLst/>
              <a:cxnLst/>
              <a:rect r="r" b="b" t="t" l="l"/>
              <a:pathLst>
                <a:path h="1320029" w="1404496">
                  <a:moveTo>
                    <a:pt x="37746" y="0"/>
                  </a:moveTo>
                  <a:lnTo>
                    <a:pt x="1366750" y="0"/>
                  </a:lnTo>
                  <a:cubicBezTo>
                    <a:pt x="1387597" y="0"/>
                    <a:pt x="1404496" y="16900"/>
                    <a:pt x="1404496" y="37746"/>
                  </a:cubicBezTo>
                  <a:lnTo>
                    <a:pt x="1404496" y="1282283"/>
                  </a:lnTo>
                  <a:cubicBezTo>
                    <a:pt x="1404496" y="1303130"/>
                    <a:pt x="1387597" y="1320029"/>
                    <a:pt x="1366750" y="1320029"/>
                  </a:cubicBezTo>
                  <a:lnTo>
                    <a:pt x="37746" y="1320029"/>
                  </a:lnTo>
                  <a:cubicBezTo>
                    <a:pt x="16900" y="1320029"/>
                    <a:pt x="0" y="1303130"/>
                    <a:pt x="0" y="1282283"/>
                  </a:cubicBezTo>
                  <a:lnTo>
                    <a:pt x="0" y="37746"/>
                  </a:lnTo>
                  <a:cubicBezTo>
                    <a:pt x="0" y="16900"/>
                    <a:pt x="16900" y="0"/>
                    <a:pt x="37746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04496" cy="136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476095">
            <a:off x="5086944" y="2870547"/>
            <a:ext cx="5332697" cy="5011986"/>
            <a:chOff x="0" y="0"/>
            <a:chExt cx="1404496" cy="1320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4496" cy="1320029"/>
            </a:xfrm>
            <a:custGeom>
              <a:avLst/>
              <a:gdLst/>
              <a:ahLst/>
              <a:cxnLst/>
              <a:rect r="r" b="b" t="t" l="l"/>
              <a:pathLst>
                <a:path h="1320029" w="1404496">
                  <a:moveTo>
                    <a:pt x="37746" y="0"/>
                  </a:moveTo>
                  <a:lnTo>
                    <a:pt x="1366750" y="0"/>
                  </a:lnTo>
                  <a:cubicBezTo>
                    <a:pt x="1387597" y="0"/>
                    <a:pt x="1404496" y="16900"/>
                    <a:pt x="1404496" y="37746"/>
                  </a:cubicBezTo>
                  <a:lnTo>
                    <a:pt x="1404496" y="1282283"/>
                  </a:lnTo>
                  <a:cubicBezTo>
                    <a:pt x="1404496" y="1303130"/>
                    <a:pt x="1387597" y="1320029"/>
                    <a:pt x="1366750" y="1320029"/>
                  </a:cubicBezTo>
                  <a:lnTo>
                    <a:pt x="37746" y="1320029"/>
                  </a:lnTo>
                  <a:cubicBezTo>
                    <a:pt x="16900" y="1320029"/>
                    <a:pt x="0" y="1303130"/>
                    <a:pt x="0" y="1282283"/>
                  </a:cubicBezTo>
                  <a:lnTo>
                    <a:pt x="0" y="37746"/>
                  </a:lnTo>
                  <a:cubicBezTo>
                    <a:pt x="0" y="16900"/>
                    <a:pt x="16900" y="0"/>
                    <a:pt x="37746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04496" cy="136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76849"/>
            <a:ext cx="14806671" cy="138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70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08 · Conclusion &amp; Perspectives</a:t>
            </a:r>
          </a:p>
          <a:p>
            <a:pPr algn="l">
              <a:lnSpc>
                <a:spcPts val="5124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526910"/>
            <a:ext cx="6424489" cy="5359957"/>
            <a:chOff x="0" y="0"/>
            <a:chExt cx="1692046" cy="14116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2046" cy="1411676"/>
            </a:xfrm>
            <a:custGeom>
              <a:avLst/>
              <a:gdLst/>
              <a:ahLst/>
              <a:cxnLst/>
              <a:rect r="r" b="b" t="t" l="l"/>
              <a:pathLst>
                <a:path h="1411676" w="1692046">
                  <a:moveTo>
                    <a:pt x="31332" y="0"/>
                  </a:moveTo>
                  <a:lnTo>
                    <a:pt x="1660715" y="0"/>
                  </a:lnTo>
                  <a:cubicBezTo>
                    <a:pt x="1678019" y="0"/>
                    <a:pt x="1692046" y="14028"/>
                    <a:pt x="1692046" y="31332"/>
                  </a:cubicBezTo>
                  <a:lnTo>
                    <a:pt x="1692046" y="1380344"/>
                  </a:lnTo>
                  <a:cubicBezTo>
                    <a:pt x="1692046" y="1397648"/>
                    <a:pt x="1678019" y="1411676"/>
                    <a:pt x="1660715" y="1411676"/>
                  </a:cubicBezTo>
                  <a:lnTo>
                    <a:pt x="31332" y="1411676"/>
                  </a:lnTo>
                  <a:cubicBezTo>
                    <a:pt x="14028" y="1411676"/>
                    <a:pt x="0" y="1397648"/>
                    <a:pt x="0" y="1380344"/>
                  </a:cubicBezTo>
                  <a:lnTo>
                    <a:pt x="0" y="31332"/>
                  </a:lnTo>
                  <a:cubicBezTo>
                    <a:pt x="0" y="14028"/>
                    <a:pt x="14028" y="0"/>
                    <a:pt x="31332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92046" cy="1459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6446" y="3526910"/>
            <a:ext cx="7067292" cy="5506598"/>
            <a:chOff x="0" y="0"/>
            <a:chExt cx="1861344" cy="1450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1344" cy="1450298"/>
            </a:xfrm>
            <a:custGeom>
              <a:avLst/>
              <a:gdLst/>
              <a:ahLst/>
              <a:cxnLst/>
              <a:rect r="r" b="b" t="t" l="l"/>
              <a:pathLst>
                <a:path h="1450298" w="1861344">
                  <a:moveTo>
                    <a:pt x="28482" y="0"/>
                  </a:moveTo>
                  <a:lnTo>
                    <a:pt x="1832862" y="0"/>
                  </a:lnTo>
                  <a:cubicBezTo>
                    <a:pt x="1840416" y="0"/>
                    <a:pt x="1847661" y="3001"/>
                    <a:pt x="1853002" y="8342"/>
                  </a:cubicBezTo>
                  <a:cubicBezTo>
                    <a:pt x="1858344" y="13684"/>
                    <a:pt x="1861344" y="20928"/>
                    <a:pt x="1861344" y="28482"/>
                  </a:cubicBezTo>
                  <a:lnTo>
                    <a:pt x="1861344" y="1421816"/>
                  </a:lnTo>
                  <a:cubicBezTo>
                    <a:pt x="1861344" y="1437546"/>
                    <a:pt x="1848593" y="1450298"/>
                    <a:pt x="1832862" y="1450298"/>
                  </a:cubicBezTo>
                  <a:lnTo>
                    <a:pt x="28482" y="1450298"/>
                  </a:lnTo>
                  <a:cubicBezTo>
                    <a:pt x="20928" y="1450298"/>
                    <a:pt x="13684" y="1447297"/>
                    <a:pt x="8342" y="1441955"/>
                  </a:cubicBezTo>
                  <a:cubicBezTo>
                    <a:pt x="3001" y="1436614"/>
                    <a:pt x="0" y="1429370"/>
                    <a:pt x="0" y="1421816"/>
                  </a:cubicBezTo>
                  <a:lnTo>
                    <a:pt x="0" y="28482"/>
                  </a:lnTo>
                  <a:cubicBezTo>
                    <a:pt x="0" y="12752"/>
                    <a:pt x="12752" y="0"/>
                    <a:pt x="28482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61344" cy="1497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9652" y="3936553"/>
            <a:ext cx="442407" cy="4424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29495" y="4036121"/>
            <a:ext cx="162721" cy="243273"/>
          </a:xfrm>
          <a:custGeom>
            <a:avLst/>
            <a:gdLst/>
            <a:ahLst/>
            <a:cxnLst/>
            <a:rect r="r" b="b" t="t" l="l"/>
            <a:pathLst>
              <a:path h="243273" w="162721">
                <a:moveTo>
                  <a:pt x="0" y="0"/>
                </a:moveTo>
                <a:lnTo>
                  <a:pt x="162721" y="0"/>
                </a:lnTo>
                <a:lnTo>
                  <a:pt x="162721" y="243272"/>
                </a:lnTo>
                <a:lnTo>
                  <a:pt x="0" y="243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894189" y="3998418"/>
            <a:ext cx="442407" cy="44240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034032" y="4097985"/>
            <a:ext cx="162721" cy="243273"/>
          </a:xfrm>
          <a:custGeom>
            <a:avLst/>
            <a:gdLst/>
            <a:ahLst/>
            <a:cxnLst/>
            <a:rect r="r" b="b" t="t" l="l"/>
            <a:pathLst>
              <a:path h="243273" w="162721">
                <a:moveTo>
                  <a:pt x="0" y="0"/>
                </a:moveTo>
                <a:lnTo>
                  <a:pt x="162721" y="0"/>
                </a:lnTo>
                <a:lnTo>
                  <a:pt x="162721" y="243273"/>
                </a:lnTo>
                <a:lnTo>
                  <a:pt x="0" y="2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673738" y="9239250"/>
            <a:ext cx="585562" cy="47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11954" y="3907978"/>
            <a:ext cx="3747623" cy="100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34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Objectifs atteints :</a:t>
            </a:r>
          </a:p>
          <a:p>
            <a:pPr algn="l">
              <a:lnSpc>
                <a:spcPts val="3648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562273" y="3913952"/>
            <a:ext cx="5852782" cy="146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34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Perspectives d'amélioration :</a:t>
            </a:r>
          </a:p>
          <a:p>
            <a:pPr algn="l">
              <a:lnSpc>
                <a:spcPts val="3648"/>
              </a:lnSpc>
            </a:pPr>
          </a:p>
          <a:p>
            <a:pPr algn="l">
              <a:lnSpc>
                <a:spcPts val="364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92216" y="4690722"/>
            <a:ext cx="5429953" cy="40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009" indent="-215504" lvl="1">
              <a:lnSpc>
                <a:spcPts val="2675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4 LAN interconnectés via RIPv2</a:t>
            </a:r>
          </a:p>
          <a:p>
            <a:pPr algn="l">
              <a:lnSpc>
                <a:spcPts val="2675"/>
              </a:lnSpc>
            </a:pPr>
          </a:p>
          <a:p>
            <a:pPr algn="l" marL="431009" indent="-215504" lvl="1">
              <a:lnSpc>
                <a:spcPts val="2675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VLANs segmentés et fonctionnels</a:t>
            </a:r>
          </a:p>
          <a:p>
            <a:pPr algn="l">
              <a:lnSpc>
                <a:spcPts val="2675"/>
              </a:lnSpc>
            </a:pPr>
          </a:p>
          <a:p>
            <a:pPr algn="l" marL="431009" indent="-215504" lvl="1">
              <a:lnSpc>
                <a:spcPts val="2675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NAT/</a:t>
            </a:r>
            <a:r>
              <a:rPr lang="en-US" sz="199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PAT opérationnel</a:t>
            </a:r>
          </a:p>
          <a:p>
            <a:pPr algn="l">
              <a:lnSpc>
                <a:spcPts val="2675"/>
              </a:lnSpc>
            </a:pPr>
          </a:p>
          <a:p>
            <a:pPr algn="l" marL="431009" indent="-215504" lvl="1">
              <a:lnSpc>
                <a:spcPts val="2675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ACL de sécurité déployées</a:t>
            </a:r>
          </a:p>
          <a:p>
            <a:pPr algn="l">
              <a:lnSpc>
                <a:spcPts val="2675"/>
              </a:lnSpc>
            </a:pPr>
          </a:p>
          <a:p>
            <a:pPr algn="l" marL="431009" indent="-215504" lvl="1">
              <a:lnSpc>
                <a:spcPts val="2675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Simulation Packet Tracer validée</a:t>
            </a:r>
          </a:p>
          <a:p>
            <a:pPr algn="l">
              <a:lnSpc>
                <a:spcPts val="2675"/>
              </a:lnSpc>
            </a:pPr>
          </a:p>
          <a:p>
            <a:pPr algn="l" marL="431009" indent="-215504" lvl="1">
              <a:lnSpc>
                <a:spcPts val="2675"/>
              </a:lnSpc>
              <a:buFont typeface="Arial"/>
              <a:buChar char="•"/>
            </a:pPr>
            <a:r>
              <a:rPr lang="en-US" sz="199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Déploiement matériel physique réussi</a:t>
            </a:r>
          </a:p>
          <a:p>
            <a:pPr algn="l">
              <a:lnSpc>
                <a:spcPts val="267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439956" y="4630117"/>
            <a:ext cx="5648784" cy="473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Adresses IP de management (augmenter masque VLAN 10)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Optimi</a:t>
            </a: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ser le placement des ACL (au plus près de la source)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erveur DHCP par LAN (ip helper-address configuré)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erveur DNS interne pour résolution des noms locaux</a:t>
            </a:r>
          </a:p>
          <a:p>
            <a:pPr algn="l">
              <a:lnSpc>
                <a:spcPts val="2545"/>
              </a:lnSpc>
            </a:pPr>
          </a:p>
          <a:p>
            <a:pPr algn="l" marL="410209" indent="-205105" lvl="1">
              <a:lnSpc>
                <a:spcPts val="2545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Port</a:t>
            </a:r>
            <a:r>
              <a:rPr lang="en-US" sz="18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Security sur les ports access (switches)</a:t>
            </a:r>
          </a:p>
          <a:p>
            <a:pPr algn="l">
              <a:lnSpc>
                <a:spcPts val="2545"/>
              </a:lnSpc>
            </a:pPr>
          </a:p>
          <a:p>
            <a:pPr algn="l">
              <a:lnSpc>
                <a:spcPts val="254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1766687"/>
            <a:ext cx="15937819" cy="121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4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Ce projet a permis de mettre en œuvre l'ensemble des technologies réseau étudiées en cours au sein d'une infrastructure complète et fonctionnelle.</a:t>
            </a:r>
          </a:p>
          <a:p>
            <a:pPr algn="l">
              <a:lnSpc>
                <a:spcPts val="32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76095">
            <a:off x="14080327" y="4246314"/>
            <a:ext cx="5332697" cy="5011986"/>
            <a:chOff x="0" y="0"/>
            <a:chExt cx="1404496" cy="1320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496" cy="1320029"/>
            </a:xfrm>
            <a:custGeom>
              <a:avLst/>
              <a:gdLst/>
              <a:ahLst/>
              <a:cxnLst/>
              <a:rect r="r" b="b" t="t" l="l"/>
              <a:pathLst>
                <a:path h="1320029" w="1404496">
                  <a:moveTo>
                    <a:pt x="37746" y="0"/>
                  </a:moveTo>
                  <a:lnTo>
                    <a:pt x="1366750" y="0"/>
                  </a:lnTo>
                  <a:cubicBezTo>
                    <a:pt x="1387597" y="0"/>
                    <a:pt x="1404496" y="16900"/>
                    <a:pt x="1404496" y="37746"/>
                  </a:cubicBezTo>
                  <a:lnTo>
                    <a:pt x="1404496" y="1282283"/>
                  </a:lnTo>
                  <a:cubicBezTo>
                    <a:pt x="1404496" y="1303130"/>
                    <a:pt x="1387597" y="1320029"/>
                    <a:pt x="1366750" y="1320029"/>
                  </a:cubicBezTo>
                  <a:lnTo>
                    <a:pt x="37746" y="1320029"/>
                  </a:lnTo>
                  <a:cubicBezTo>
                    <a:pt x="16900" y="1320029"/>
                    <a:pt x="0" y="1303130"/>
                    <a:pt x="0" y="1282283"/>
                  </a:cubicBezTo>
                  <a:lnTo>
                    <a:pt x="0" y="37746"/>
                  </a:lnTo>
                  <a:cubicBezTo>
                    <a:pt x="0" y="16900"/>
                    <a:pt x="16900" y="0"/>
                    <a:pt x="37746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04496" cy="136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85766">
            <a:off x="11457142" y="2520315"/>
            <a:ext cx="5246370" cy="52463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0989" y="0"/>
                  </a:moveTo>
                  <a:lnTo>
                    <a:pt x="781811" y="0"/>
                  </a:lnTo>
                  <a:cubicBezTo>
                    <a:pt x="798926" y="0"/>
                    <a:pt x="812800" y="13874"/>
                    <a:pt x="812800" y="30989"/>
                  </a:cubicBezTo>
                  <a:lnTo>
                    <a:pt x="812800" y="781811"/>
                  </a:lnTo>
                  <a:cubicBezTo>
                    <a:pt x="812800" y="798926"/>
                    <a:pt x="798926" y="812800"/>
                    <a:pt x="781811" y="812800"/>
                  </a:cubicBezTo>
                  <a:lnTo>
                    <a:pt x="30989" y="812800"/>
                  </a:lnTo>
                  <a:cubicBezTo>
                    <a:pt x="13874" y="812800"/>
                    <a:pt x="0" y="798926"/>
                    <a:pt x="0" y="781811"/>
                  </a:cubicBezTo>
                  <a:lnTo>
                    <a:pt x="0" y="30989"/>
                  </a:lnTo>
                  <a:cubicBezTo>
                    <a:pt x="0" y="13874"/>
                    <a:pt x="13874" y="0"/>
                    <a:pt x="30989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9761" y="705768"/>
            <a:ext cx="16648478" cy="645864"/>
            <a:chOff x="0" y="0"/>
            <a:chExt cx="10475806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75806" cy="406400"/>
            </a:xfrm>
            <a:custGeom>
              <a:avLst/>
              <a:gdLst/>
              <a:ahLst/>
              <a:cxnLst/>
              <a:rect r="r" b="b" t="t" l="l"/>
              <a:pathLst>
                <a:path h="406400" w="10475806">
                  <a:moveTo>
                    <a:pt x="10272606" y="0"/>
                  </a:moveTo>
                  <a:cubicBezTo>
                    <a:pt x="10384830" y="0"/>
                    <a:pt x="10475806" y="90976"/>
                    <a:pt x="10475806" y="203200"/>
                  </a:cubicBezTo>
                  <a:cubicBezTo>
                    <a:pt x="10475806" y="315424"/>
                    <a:pt x="10384830" y="406400"/>
                    <a:pt x="102726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47580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8612436"/>
            <a:ext cx="3136633" cy="645864"/>
            <a:chOff x="0" y="0"/>
            <a:chExt cx="197368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3680" cy="406400"/>
            </a:xfrm>
            <a:custGeom>
              <a:avLst/>
              <a:gdLst/>
              <a:ahLst/>
              <a:cxnLst/>
              <a:rect r="r" b="b" t="t" l="l"/>
              <a:pathLst>
                <a:path h="406400" w="1973680">
                  <a:moveTo>
                    <a:pt x="1770480" y="0"/>
                  </a:moveTo>
                  <a:cubicBezTo>
                    <a:pt x="1882704" y="0"/>
                    <a:pt x="1973680" y="90976"/>
                    <a:pt x="1973680" y="203200"/>
                  </a:cubicBezTo>
                  <a:cubicBezTo>
                    <a:pt x="1973680" y="315424"/>
                    <a:pt x="1882704" y="406400"/>
                    <a:pt x="17704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7368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5344" y="8739442"/>
            <a:ext cx="391852" cy="39185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95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29206" y="8827632"/>
            <a:ext cx="144126" cy="215473"/>
          </a:xfrm>
          <a:custGeom>
            <a:avLst/>
            <a:gdLst/>
            <a:ahLst/>
            <a:cxnLst/>
            <a:rect r="r" b="b" t="t" l="l"/>
            <a:pathLst>
              <a:path h="215473" w="144126">
                <a:moveTo>
                  <a:pt x="0" y="0"/>
                </a:moveTo>
                <a:lnTo>
                  <a:pt x="144126" y="0"/>
                </a:lnTo>
                <a:lnTo>
                  <a:pt x="144126" y="215473"/>
                </a:lnTo>
                <a:lnTo>
                  <a:pt x="0" y="2154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3816641"/>
            <a:ext cx="9036879" cy="289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09"/>
              </a:lnSpc>
            </a:pPr>
            <a:r>
              <a:rPr lang="en-US" sz="9825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Merci pour votre attention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4394" y="812833"/>
            <a:ext cx="2726883" cy="47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SAE 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73141" y="8720392"/>
            <a:ext cx="2392192" cy="47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VRAY Lubin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DAHG0KHTF3I</dc:identifier>
  <dcterms:modified xsi:type="dcterms:W3CDTF">2011-08-01T06:04:30Z</dcterms:modified>
  <cp:revision>1</cp:revision>
  <dc:title>Présentation de projet professionnel moderne simple bleu</dc:title>
</cp:coreProperties>
</file>